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688" y="-55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20/03/2026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159272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0826834"/>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784122" y="1015853"/>
            <a:ext cx="9544192" cy="396546"/>
          </a:xfrm>
        </p:spPr>
        <p:txBody>
          <a:bodyPr/>
          <a:lstStyle/>
          <a:p>
            <a:r>
              <a:rPr lang="en-GB" b="1" dirty="0">
                <a:solidFill>
                  <a:schemeClr val="bg1"/>
                </a:solidFill>
              </a:rPr>
              <a:t>Supervisor – Alun King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556501"/>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8981820"/>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1742546"/>
            <a:ext cx="6850844" cy="7201972"/>
          </a:xfrm>
          <a:prstGeom prst="rect">
            <a:avLst/>
          </a:prstGeom>
          <a:solidFill>
            <a:schemeClr val="bg1">
              <a:alpha val="64000"/>
            </a:schemeClr>
          </a:solidFill>
          <a:ln w="38100">
            <a:solidFill>
              <a:schemeClr val="bg1"/>
            </a:solidFill>
          </a:ln>
        </p:spPr>
        <p:txBody>
          <a:bodyPr wrap="square" rtlCol="0">
            <a:spAutoFit/>
          </a:bodyPr>
          <a:lstStyle/>
          <a:p>
            <a:r>
              <a:rPr lang="en-GB" sz="2800" b="1" u="sng" dirty="0"/>
              <a:t>Problem</a:t>
            </a:r>
          </a:p>
          <a:p>
            <a:r>
              <a:rPr lang="en-GB" sz="1800" dirty="0"/>
              <a:t>Digital Eye Strain (DES) is caused by prolonged screen use with symptoms including eye fatigue, light sensitivity, focus strain and headaches. However, awareness of preventative habits remains low. Sheppard and </a:t>
            </a:r>
            <a:r>
              <a:rPr lang="en-GB" sz="1800" dirty="0" err="1"/>
              <a:t>Wolffsohn</a:t>
            </a:r>
            <a:r>
              <a:rPr lang="en-GB" sz="1800" dirty="0"/>
              <a:t>, (2018) found the 2016 DES report showed 65% of participants experienced symptoms.</a:t>
            </a:r>
          </a:p>
          <a:p>
            <a:endParaRPr lang="en-GB" sz="1800" dirty="0"/>
          </a:p>
          <a:p>
            <a:r>
              <a:rPr lang="en-GB" sz="2800" b="1" u="sng" dirty="0"/>
              <a:t>Aim</a:t>
            </a:r>
          </a:p>
          <a:p>
            <a:r>
              <a:rPr lang="en-GB" sz="1800" dirty="0"/>
              <a:t>Raise awareness of DES by incorporating Virtual Reality (VR) to immerse and engage users with educational material relating to ocular health.</a:t>
            </a:r>
          </a:p>
          <a:p>
            <a:endParaRPr lang="en-GB" sz="1800" dirty="0"/>
          </a:p>
          <a:p>
            <a:r>
              <a:rPr lang="en-GB" sz="2800" b="1" u="sng" dirty="0"/>
              <a:t>Objectives</a:t>
            </a:r>
          </a:p>
          <a:p>
            <a:pPr marL="342900" lvl="0" indent="-342900">
              <a:buFont typeface="Wingdings" panose="05000000000000000000" pitchFamily="2" charset="2"/>
              <a:buChar char="v"/>
            </a:pPr>
            <a:r>
              <a:rPr lang="en-GB" sz="1800" dirty="0"/>
              <a:t>Research preventative methods for DES and identify educational content appropriate for the VR experience. </a:t>
            </a:r>
          </a:p>
          <a:p>
            <a:pPr marL="342900" lvl="0" indent="-342900">
              <a:buFont typeface="Wingdings" panose="05000000000000000000" pitchFamily="2" charset="2"/>
              <a:buChar char="v"/>
            </a:pPr>
            <a:endParaRPr lang="en-GB" sz="1800" dirty="0"/>
          </a:p>
          <a:p>
            <a:pPr marL="342900" lvl="0" indent="-342900">
              <a:buFont typeface="Wingdings" panose="05000000000000000000" pitchFamily="2" charset="2"/>
              <a:buChar char="v"/>
            </a:pPr>
            <a:r>
              <a:rPr lang="en-GB" sz="1800" dirty="0"/>
              <a:t>Review existing medical VR applications to identify design and interaction strategies.</a:t>
            </a:r>
          </a:p>
          <a:p>
            <a:pPr marL="342900" lvl="0" indent="-342900">
              <a:buFont typeface="Wingdings" panose="05000000000000000000" pitchFamily="2" charset="2"/>
              <a:buChar char="v"/>
            </a:pPr>
            <a:endParaRPr lang="en-GB" sz="1800" dirty="0"/>
          </a:p>
          <a:p>
            <a:pPr marL="342900" lvl="0" indent="-342900">
              <a:buFont typeface="Wingdings" panose="05000000000000000000" pitchFamily="2" charset="2"/>
              <a:buChar char="v"/>
            </a:pPr>
            <a:r>
              <a:rPr lang="en-GB" sz="1800" dirty="0"/>
              <a:t>Develop a VR experience that simulates DES symptoms and teaches preventative techniques.</a:t>
            </a:r>
          </a:p>
          <a:p>
            <a:pPr marL="342900" lvl="0" indent="-342900">
              <a:buFont typeface="Wingdings" panose="05000000000000000000" pitchFamily="2" charset="2"/>
              <a:buChar char="v"/>
            </a:pPr>
            <a:endParaRPr lang="en-GB" sz="1800" dirty="0"/>
          </a:p>
          <a:p>
            <a:pPr marL="342900" lvl="0" indent="-342900">
              <a:buFont typeface="Wingdings" panose="05000000000000000000" pitchFamily="2" charset="2"/>
              <a:buChar char="v"/>
            </a:pPr>
            <a:r>
              <a:rPr lang="en-GB" sz="1800" dirty="0"/>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1750984"/>
            <a:ext cx="6734112" cy="4284000"/>
          </a:xfrm>
          <a:prstGeom prst="rect">
            <a:avLst/>
          </a:prstGeom>
          <a:solidFill>
            <a:schemeClr val="bg1">
              <a:alpha val="64000"/>
            </a:schemeClr>
          </a:solidFill>
          <a:ln w="38100">
            <a:solidFill>
              <a:schemeClr val="bg1"/>
            </a:solidFill>
          </a:ln>
        </p:spPr>
        <p:txBody>
          <a:bodyPr wrap="square" rtlCol="0">
            <a:spAutoFit/>
          </a:bodyPr>
          <a:lstStyle/>
          <a:p>
            <a:r>
              <a:rPr lang="en-GB" sz="2800" b="1" u="sng" dirty="0"/>
              <a:t>Results</a:t>
            </a:r>
          </a:p>
          <a:p>
            <a:pPr marL="285750" indent="-285750">
              <a:buFont typeface="Wingdings" panose="05000000000000000000" pitchFamily="2" charset="2"/>
              <a:buChar char="v"/>
            </a:pPr>
            <a:r>
              <a:rPr lang="en-GB" sz="1750" dirty="0"/>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200" dirty="0"/>
          </a:p>
          <a:p>
            <a:pPr marL="285750" indent="-285750">
              <a:buFont typeface="Wingdings" panose="05000000000000000000" pitchFamily="2" charset="2"/>
              <a:buChar char="v"/>
            </a:pPr>
            <a:r>
              <a:rPr lang="en-GB" sz="1750" dirty="0"/>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200" dirty="0"/>
          </a:p>
          <a:p>
            <a:pPr marL="285750" indent="-285750">
              <a:buFont typeface="Wingdings" panose="05000000000000000000" pitchFamily="2" charset="2"/>
              <a:buChar char="v"/>
            </a:pPr>
            <a:r>
              <a:rPr lang="en-GB" sz="1750" dirty="0"/>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200" dirty="0"/>
          </a:p>
          <a:p>
            <a:pPr marL="285750" indent="-285750">
              <a:buFont typeface="Wingdings" panose="05000000000000000000" pitchFamily="2" charset="2"/>
              <a:buChar char="v"/>
            </a:pPr>
            <a:r>
              <a:rPr lang="en-GB" sz="1750" dirty="0"/>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34678" y="6347580"/>
            <a:ext cx="6734112" cy="2592000"/>
          </a:xfrm>
          <a:prstGeom prst="rect">
            <a:avLst/>
          </a:prstGeom>
          <a:solidFill>
            <a:schemeClr val="bg1">
              <a:alpha val="64000"/>
            </a:schemeClr>
          </a:solidFill>
          <a:ln w="38100">
            <a:solidFill>
              <a:schemeClr val="bg1"/>
            </a:solidFill>
          </a:ln>
        </p:spPr>
        <p:txBody>
          <a:bodyPr wrap="square" rtlCol="0">
            <a:spAutoFit/>
          </a:bodyPr>
          <a:lstStyle/>
          <a:p>
            <a:r>
              <a:rPr lang="en-GB" sz="2800" b="1" u="sng" dirty="0"/>
              <a:t>Conclusion</a:t>
            </a:r>
          </a:p>
          <a:p>
            <a:r>
              <a:rPr lang="en-GB" sz="1750" dirty="0"/>
              <a:t>Wu et al., (2020) found using VR as an immersive educational tool is more effective than non-immersive learning approaches. topics. 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429048"/>
            <a:ext cx="8578532" cy="6415282"/>
          </a:xfrm>
          <a:prstGeom prst="rect">
            <a:avLst/>
          </a:prstGeom>
          <a:solidFill>
            <a:schemeClr val="bg1">
              <a:alpha val="64000"/>
            </a:schemeClr>
          </a:solidFill>
          <a:ln w="38100">
            <a:solidFill>
              <a:schemeClr val="bg1"/>
            </a:solidFill>
          </a:ln>
        </p:spPr>
        <p:txBody>
          <a:bodyPr wrap="square" rtlCol="0">
            <a:spAutoFit/>
          </a:bodyPr>
          <a:lstStyle/>
          <a:p>
            <a:r>
              <a:rPr lang="en-GB" sz="2000" b="1" u="sng" dirty="0"/>
              <a:t>Development Process</a:t>
            </a:r>
          </a:p>
          <a:p>
            <a:r>
              <a:rPr lang="en-GB" sz="1682" dirty="0"/>
              <a:t>The project was developed using Unreal Engine 5.3.2 with blueprinting and tested with a Meta Quest 3 VR headset.</a:t>
            </a:r>
          </a:p>
          <a:p>
            <a:endParaRPr lang="en-GB" sz="1682" dirty="0"/>
          </a:p>
          <a:p>
            <a:r>
              <a:rPr lang="en-GB" sz="1682" dirty="0"/>
              <a:t>The development process followed a User Centred Design (UCD) approach. Gibson Kimutai and Förster, (2024) examined how UCD plays a critical role in product development, by using user feedback to refine the product throughout development.</a:t>
            </a:r>
          </a:p>
          <a:p>
            <a:r>
              <a:rPr lang="en-GB" sz="1682" dirty="0"/>
              <a:t>Objective based progression gamified the experience. Deterding et al., (2011) defined</a:t>
            </a:r>
          </a:p>
          <a:p>
            <a:r>
              <a:rPr lang="en-GB" sz="1682" dirty="0"/>
              <a:t>gamification as using game design elements in non-game contexts to increase retention and motivation of users. The environment was designed to replicate real-world desk environments where DES commonly occurs. </a:t>
            </a:r>
          </a:p>
          <a:p>
            <a:endParaRPr lang="en-GB" sz="1682" dirty="0"/>
          </a:p>
          <a:p>
            <a:r>
              <a:rPr lang="en-GB" sz="1682" dirty="0"/>
              <a:t>Post-processing effects were used to simulate DES symptoms.</a:t>
            </a:r>
          </a:p>
          <a:p>
            <a:endParaRPr lang="en-GB" sz="1682" dirty="0"/>
          </a:p>
          <a:p>
            <a:r>
              <a:rPr lang="en-GB" sz="1682" b="1" dirty="0"/>
              <a:t>Vignette</a:t>
            </a:r>
            <a:r>
              <a:rPr lang="en-GB" sz="1682" dirty="0"/>
              <a:t> </a:t>
            </a:r>
            <a:r>
              <a:rPr lang="en-GB" sz="1682" dirty="0">
                <a:sym typeface="Wingdings" panose="05000000000000000000" pitchFamily="2" charset="2"/>
              </a:rPr>
              <a:t> </a:t>
            </a:r>
            <a:r>
              <a:rPr lang="en-GB" sz="1682" b="1" dirty="0">
                <a:sym typeface="Wingdings" panose="05000000000000000000" pitchFamily="2" charset="2"/>
              </a:rPr>
              <a:t>E</a:t>
            </a:r>
            <a:r>
              <a:rPr lang="en-GB" sz="1682" b="1" dirty="0"/>
              <a:t>ye Fatigue</a:t>
            </a:r>
          </a:p>
          <a:p>
            <a:r>
              <a:rPr lang="en-GB" sz="1682" b="1" dirty="0"/>
              <a:t>Bloom</a:t>
            </a:r>
            <a:r>
              <a:rPr lang="en-GB" sz="1682" dirty="0"/>
              <a:t> </a:t>
            </a:r>
            <a:r>
              <a:rPr lang="en-GB" sz="1682" dirty="0">
                <a:sym typeface="Wingdings" panose="05000000000000000000" pitchFamily="2" charset="2"/>
              </a:rPr>
              <a:t> </a:t>
            </a:r>
            <a:r>
              <a:rPr lang="en-GB" sz="1682" b="1" dirty="0">
                <a:sym typeface="Wingdings" panose="05000000000000000000" pitchFamily="2" charset="2"/>
              </a:rPr>
              <a:t>L</a:t>
            </a:r>
            <a:r>
              <a:rPr lang="en-GB" sz="1682" b="1" dirty="0"/>
              <a:t>ight Sensitivity </a:t>
            </a:r>
          </a:p>
          <a:p>
            <a:r>
              <a:rPr lang="en-GB" sz="1682" b="1" dirty="0"/>
              <a:t>Blur</a:t>
            </a:r>
            <a:r>
              <a:rPr lang="en-GB" sz="1682" dirty="0"/>
              <a:t> </a:t>
            </a:r>
            <a:r>
              <a:rPr lang="en-GB" sz="1682" dirty="0">
                <a:sym typeface="Wingdings" panose="05000000000000000000" pitchFamily="2" charset="2"/>
              </a:rPr>
              <a:t> </a:t>
            </a:r>
            <a:r>
              <a:rPr lang="en-GB" sz="1682" b="1" dirty="0">
                <a:sym typeface="Wingdings" panose="05000000000000000000" pitchFamily="2" charset="2"/>
              </a:rPr>
              <a:t>F</a:t>
            </a:r>
            <a:r>
              <a:rPr lang="en-GB" sz="1682" b="1" dirty="0"/>
              <a:t>ocus Strain</a:t>
            </a:r>
          </a:p>
          <a:p>
            <a:endParaRPr lang="en-GB" sz="1682" dirty="0"/>
          </a:p>
          <a:p>
            <a:r>
              <a:rPr lang="en-GB" sz="1682" dirty="0"/>
              <a:t>Workflow followed iterative development. Genov, (2005) described iterative usability testing as a form of continuous feedback that guides design. A prototype was created and tested by users. Feedback collected was used to improve interactions and usability of the experience. This resulted in the final version implementing improved interaction and gaze detection. </a:t>
            </a:r>
          </a:p>
          <a:p>
            <a:endParaRPr lang="en-GB" sz="1682" dirty="0"/>
          </a:p>
          <a:p>
            <a:r>
              <a:rPr lang="en-GB" sz="1682" b="1" dirty="0"/>
              <a:t>Research </a:t>
            </a:r>
            <a:r>
              <a:rPr lang="en-GB" sz="1682" b="1" dirty="0">
                <a:sym typeface="Wingdings" panose="05000000000000000000" pitchFamily="2" charset="2"/>
              </a:rPr>
              <a:t> Prototype  User Testing  Improvements  Final Version</a:t>
            </a:r>
            <a:endParaRPr lang="en-GB" sz="1682" b="1" dirty="0"/>
          </a:p>
        </p:txBody>
      </p:sp>
      <p:sp>
        <p:nvSpPr>
          <p:cNvPr id="12" name="TextBox 11">
            <a:extLst>
              <a:ext uri="{FF2B5EF4-FFF2-40B4-BE49-F238E27FC236}">
                <a16:creationId xmlns:a16="http://schemas.microsoft.com/office/drawing/2014/main" id="{8816A9FA-50CD-BDF4-C168-DAED2BFC33A4}"/>
              </a:ext>
            </a:extLst>
          </p:cNvPr>
          <p:cNvSpPr txBox="1"/>
          <p:nvPr/>
        </p:nvSpPr>
        <p:spPr>
          <a:xfrm>
            <a:off x="9473098" y="12429048"/>
            <a:ext cx="5095692" cy="3036665"/>
          </a:xfrm>
          <a:prstGeom prst="rect">
            <a:avLst/>
          </a:prstGeom>
          <a:solidFill>
            <a:schemeClr val="bg1">
              <a:alpha val="64000"/>
            </a:schemeClr>
          </a:solidFill>
          <a:ln w="38100">
            <a:solidFill>
              <a:schemeClr val="bg1"/>
            </a:solidFill>
          </a:ln>
        </p:spPr>
        <p:txBody>
          <a:bodyPr wrap="square" rtlCol="0">
            <a:spAutoFit/>
          </a:bodyPr>
          <a:lstStyle/>
          <a:p>
            <a:r>
              <a:rPr lang="en-GB" sz="2400" b="1" u="sng" dirty="0"/>
              <a:t>Future Work</a:t>
            </a:r>
            <a:endParaRPr lang="en-GB" sz="1000" b="1" u="sng" dirty="0"/>
          </a:p>
          <a:p>
            <a:pPr marL="285750" indent="-285750">
              <a:buFont typeface="Wingdings" panose="05000000000000000000" pitchFamily="2" charset="2"/>
              <a:buChar char="v"/>
            </a:pPr>
            <a:r>
              <a:rPr lang="en-GB" sz="1800" dirty="0"/>
              <a:t>Narration within the experience</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Accessibility settings</a:t>
            </a:r>
          </a:p>
          <a:p>
            <a:endParaRPr lang="en-GB" sz="1800" dirty="0"/>
          </a:p>
          <a:p>
            <a:pPr marL="285750" indent="-285750">
              <a:buFont typeface="Wingdings" panose="05000000000000000000" pitchFamily="2" charset="2"/>
              <a:buChar char="v"/>
            </a:pPr>
            <a:r>
              <a:rPr lang="en-GB" sz="1800" dirty="0"/>
              <a:t>Changing gaze detection to use eye Tracking</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Additional environments</a:t>
            </a:r>
          </a:p>
          <a:p>
            <a:pPr marL="285750" indent="-285750">
              <a:buFont typeface="Wingdings" panose="05000000000000000000" pitchFamily="2" charset="2"/>
              <a:buChar char="v"/>
            </a:pPr>
            <a:endParaRPr lang="en-GB" sz="1800" dirty="0"/>
          </a:p>
          <a:p>
            <a:pPr marL="285750" indent="-285750">
              <a:buFont typeface="Wingdings" panose="05000000000000000000" pitchFamily="2" charset="2"/>
              <a:buChar char="v"/>
            </a:pPr>
            <a:r>
              <a:rPr lang="en-GB" sz="1800" dirty="0"/>
              <a:t>More intuitive light switch interaction </a:t>
            </a:r>
          </a:p>
        </p:txBody>
      </p:sp>
      <p:pic>
        <p:nvPicPr>
          <p:cNvPr id="18" name="Picture 17">
            <a:extLst>
              <a:ext uri="{FF2B5EF4-FFF2-40B4-BE49-F238E27FC236}">
                <a16:creationId xmlns:a16="http://schemas.microsoft.com/office/drawing/2014/main" id="{82278756-6B40-1ECB-3CF1-E0C4B49748B5}"/>
              </a:ext>
            </a:extLst>
          </p:cNvPr>
          <p:cNvPicPr>
            <a:picLocks noChangeAspect="1"/>
          </p:cNvPicPr>
          <p:nvPr/>
        </p:nvPicPr>
        <p:blipFill>
          <a:blip r:embed="rId4">
            <a:extLst>
              <a:ext uri="{28A0092B-C50C-407E-A947-70E740481C1C}">
                <a14:useLocalDpi xmlns:a14="http://schemas.microsoft.com/office/drawing/2010/main" val="0"/>
              </a:ext>
            </a:extLst>
          </a:blip>
          <a:srcRect l="9780" t="10655" b="4861"/>
          <a:stretch>
            <a:fillRect/>
          </a:stretch>
        </p:blipFill>
        <p:spPr>
          <a:xfrm>
            <a:off x="9923438" y="9163304"/>
            <a:ext cx="4687504" cy="2318280"/>
          </a:xfrm>
          <a:prstGeom prst="rect">
            <a:avLst/>
          </a:prstGeom>
        </p:spPr>
      </p:pic>
      <p:pic>
        <p:nvPicPr>
          <p:cNvPr id="19" name="Picture 18">
            <a:extLst>
              <a:ext uri="{FF2B5EF4-FFF2-40B4-BE49-F238E27FC236}">
                <a16:creationId xmlns:a16="http://schemas.microsoft.com/office/drawing/2014/main" id="{3BE05E08-87E9-6FDB-6F69-438CC6F37FA9}"/>
              </a:ext>
            </a:extLst>
          </p:cNvPr>
          <p:cNvPicPr>
            <a:picLocks noChangeAspect="1"/>
          </p:cNvPicPr>
          <p:nvPr/>
        </p:nvPicPr>
        <p:blipFill>
          <a:blip r:embed="rId5"/>
          <a:stretch>
            <a:fillRect/>
          </a:stretch>
        </p:blipFill>
        <p:spPr>
          <a:xfrm>
            <a:off x="533071" y="9163304"/>
            <a:ext cx="4419645" cy="2318280"/>
          </a:xfrm>
          <a:prstGeom prst="rect">
            <a:avLst/>
          </a:prstGeom>
        </p:spPr>
      </p:pic>
      <p:pic>
        <p:nvPicPr>
          <p:cNvPr id="21" name="Picture 20">
            <a:extLst>
              <a:ext uri="{FF2B5EF4-FFF2-40B4-BE49-F238E27FC236}">
                <a16:creationId xmlns:a16="http://schemas.microsoft.com/office/drawing/2014/main" id="{72B4A5C7-6B07-6C9A-E9F0-ED44E4EBDD46}"/>
              </a:ext>
            </a:extLst>
          </p:cNvPr>
          <p:cNvPicPr>
            <a:picLocks noChangeAspect="1"/>
          </p:cNvPicPr>
          <p:nvPr/>
        </p:nvPicPr>
        <p:blipFill>
          <a:blip r:embed="rId6"/>
          <a:stretch>
            <a:fillRect/>
          </a:stretch>
        </p:blipFill>
        <p:spPr>
          <a:xfrm>
            <a:off x="5230298" y="9163304"/>
            <a:ext cx="4415557" cy="2318280"/>
          </a:xfrm>
          <a:prstGeom prst="rect">
            <a:avLst/>
          </a:prstGeom>
        </p:spPr>
      </p:pic>
      <p:pic>
        <p:nvPicPr>
          <p:cNvPr id="25" name="Picture 24">
            <a:extLst>
              <a:ext uri="{FF2B5EF4-FFF2-40B4-BE49-F238E27FC236}">
                <a16:creationId xmlns:a16="http://schemas.microsoft.com/office/drawing/2014/main" id="{A26F2416-A6D5-ADE5-C49F-5F95B83AD49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89033" y="19060055"/>
            <a:ext cx="1763732" cy="2279589"/>
          </a:xfrm>
          <a:prstGeom prst="rect">
            <a:avLst/>
          </a:prstGeom>
        </p:spPr>
      </p:pic>
      <p:sp>
        <p:nvSpPr>
          <p:cNvPr id="9" name="TextBox 8">
            <a:extLst>
              <a:ext uri="{FF2B5EF4-FFF2-40B4-BE49-F238E27FC236}">
                <a16:creationId xmlns:a16="http://schemas.microsoft.com/office/drawing/2014/main" id="{11549785-F4DE-8A8C-8E6A-EBE7D7312363}"/>
              </a:ext>
            </a:extLst>
          </p:cNvPr>
          <p:cNvSpPr txBox="1"/>
          <p:nvPr/>
        </p:nvSpPr>
        <p:spPr>
          <a:xfrm>
            <a:off x="547786" y="11589926"/>
            <a:ext cx="4379156" cy="646331"/>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1: Focus strain symptom simulation with gaze interaction as active objective</a:t>
            </a:r>
          </a:p>
        </p:txBody>
      </p:sp>
      <p:sp>
        <p:nvSpPr>
          <p:cNvPr id="14" name="TextBox 13">
            <a:extLst>
              <a:ext uri="{FF2B5EF4-FFF2-40B4-BE49-F238E27FC236}">
                <a16:creationId xmlns:a16="http://schemas.microsoft.com/office/drawing/2014/main" id="{C4F74F37-9630-3FAF-C3F9-419609D97453}"/>
              </a:ext>
            </a:extLst>
          </p:cNvPr>
          <p:cNvSpPr txBox="1"/>
          <p:nvPr/>
        </p:nvSpPr>
        <p:spPr>
          <a:xfrm>
            <a:off x="5230297" y="11589924"/>
            <a:ext cx="4415557" cy="646331"/>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2: Desk setup with light switch interaction</a:t>
            </a:r>
          </a:p>
        </p:txBody>
      </p:sp>
      <p:sp>
        <p:nvSpPr>
          <p:cNvPr id="15" name="TextBox 14">
            <a:extLst>
              <a:ext uri="{FF2B5EF4-FFF2-40B4-BE49-F238E27FC236}">
                <a16:creationId xmlns:a16="http://schemas.microsoft.com/office/drawing/2014/main" id="{1D03B8AD-C3FF-4F18-8DF3-8C0F354B72F9}"/>
              </a:ext>
            </a:extLst>
          </p:cNvPr>
          <p:cNvSpPr txBox="1"/>
          <p:nvPr/>
        </p:nvSpPr>
        <p:spPr>
          <a:xfrm>
            <a:off x="10077612" y="11589925"/>
            <a:ext cx="4379156" cy="646331"/>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3: Eye fatigue simulation with green sphere target for objective progression</a:t>
            </a:r>
          </a:p>
        </p:txBody>
      </p:sp>
      <p:sp>
        <p:nvSpPr>
          <p:cNvPr id="17" name="TextBox 16">
            <a:extLst>
              <a:ext uri="{FF2B5EF4-FFF2-40B4-BE49-F238E27FC236}">
                <a16:creationId xmlns:a16="http://schemas.microsoft.com/office/drawing/2014/main" id="{28E7018E-612A-6DD1-411D-49A4C41A23E9}"/>
              </a:ext>
            </a:extLst>
          </p:cNvPr>
          <p:cNvSpPr txBox="1"/>
          <p:nvPr/>
        </p:nvSpPr>
        <p:spPr>
          <a:xfrm>
            <a:off x="2359941" y="19205545"/>
            <a:ext cx="12251001" cy="2008242"/>
          </a:xfrm>
          <a:prstGeom prst="rect">
            <a:avLst/>
          </a:prstGeom>
          <a:noFill/>
          <a:ln w="38100">
            <a:solidFill>
              <a:schemeClr val="bg1"/>
            </a:solidFill>
          </a:ln>
        </p:spPr>
        <p:txBody>
          <a:bodyPr wrap="square" rtlCol="0">
            <a:spAutoFit/>
          </a:bodyPr>
          <a:lstStyle/>
          <a:p>
            <a:r>
              <a:rPr lang="en-GB" sz="2400" b="1" u="sng" dirty="0">
                <a:solidFill>
                  <a:schemeClr val="bg1"/>
                </a:solidFill>
              </a:rPr>
              <a:t>References</a:t>
            </a:r>
            <a:endParaRPr lang="en-GB" sz="1000" b="1" u="sng" dirty="0">
              <a:solidFill>
                <a:schemeClr val="bg1"/>
              </a:solidFill>
            </a:endParaRPr>
          </a:p>
          <a:p>
            <a:pPr>
              <a:spcBef>
                <a:spcPts val="300"/>
              </a:spcBef>
            </a:pPr>
            <a:r>
              <a:rPr lang="en-GB" sz="1100" dirty="0">
                <a:solidFill>
                  <a:schemeClr val="bg1"/>
                </a:solidFill>
              </a:rPr>
              <a:t>Deterding, S., Dixon, D., Khaled, R. and Nacke, L. (2011) ‘From Game Design Elements to </a:t>
            </a:r>
            <a:r>
              <a:rPr lang="en-GB" sz="1100" dirty="0" err="1">
                <a:solidFill>
                  <a:schemeClr val="bg1"/>
                </a:solidFill>
              </a:rPr>
              <a:t>gamefulness</a:t>
            </a:r>
            <a:r>
              <a:rPr lang="en-GB" sz="1100" dirty="0">
                <a:solidFill>
                  <a:schemeClr val="bg1"/>
                </a:solidFill>
              </a:rPr>
              <a:t>: Defining “gamification”’. </a:t>
            </a:r>
            <a:r>
              <a:rPr lang="en-GB" sz="1100" i="1" dirty="0">
                <a:solidFill>
                  <a:schemeClr val="bg1"/>
                </a:solidFill>
              </a:rPr>
              <a:t>Proceedings of the 15th International Academic </a:t>
            </a:r>
            <a:r>
              <a:rPr lang="en-GB" sz="1100" i="1" dirty="0" err="1">
                <a:solidFill>
                  <a:schemeClr val="bg1"/>
                </a:solidFill>
              </a:rPr>
              <a:t>MindTrek</a:t>
            </a:r>
            <a:r>
              <a:rPr lang="en-GB" sz="1100" i="1" dirty="0">
                <a:solidFill>
                  <a:schemeClr val="bg1"/>
                </a:solidFill>
              </a:rPr>
              <a:t> Conference on Envisioning Future Media Environments - </a:t>
            </a:r>
            <a:r>
              <a:rPr lang="en-GB" sz="1100" i="1" dirty="0" err="1">
                <a:solidFill>
                  <a:schemeClr val="bg1"/>
                </a:solidFill>
              </a:rPr>
              <a:t>MindTrek</a:t>
            </a:r>
            <a:r>
              <a:rPr lang="en-GB" sz="1100" i="1" dirty="0">
                <a:solidFill>
                  <a:schemeClr val="bg1"/>
                </a:solidFill>
              </a:rPr>
              <a:t> ’11</a:t>
            </a:r>
            <a:r>
              <a:rPr lang="en-GB" sz="1100" dirty="0">
                <a:solidFill>
                  <a:schemeClr val="bg1"/>
                </a:solidFill>
              </a:rPr>
              <a:t> 11, pp. 9–15. </a:t>
            </a:r>
            <a:r>
              <a:rPr lang="en-GB" sz="1100" dirty="0" err="1">
                <a:solidFill>
                  <a:schemeClr val="bg1"/>
                </a:solidFill>
              </a:rPr>
              <a:t>doi</a:t>
            </a:r>
            <a:r>
              <a:rPr lang="en-GB" sz="1100" dirty="0">
                <a:solidFill>
                  <a:schemeClr val="bg1"/>
                </a:solidFill>
              </a:rPr>
              <a:t>: https://doi.org/10.1145/2181037.2181040.</a:t>
            </a:r>
          </a:p>
          <a:p>
            <a:pPr>
              <a:spcBef>
                <a:spcPts val="300"/>
              </a:spcBef>
            </a:pPr>
            <a:r>
              <a:rPr lang="en-GB" sz="1100" dirty="0">
                <a:solidFill>
                  <a:schemeClr val="bg1"/>
                </a:solidFill>
              </a:rPr>
              <a:t>Genov, A. (2005) ‘Iterative usability testing as continuous feedback: a control systems perspective’. </a:t>
            </a:r>
            <a:r>
              <a:rPr lang="en-GB" sz="1100" i="1" dirty="0">
                <a:solidFill>
                  <a:schemeClr val="bg1"/>
                </a:solidFill>
              </a:rPr>
              <a:t>J. Usability Studies</a:t>
            </a:r>
            <a:r>
              <a:rPr lang="en-GB" sz="1100" dirty="0">
                <a:solidFill>
                  <a:schemeClr val="bg1"/>
                </a:solidFill>
              </a:rPr>
              <a:t> 1(1), pp. 18–27. </a:t>
            </a:r>
            <a:r>
              <a:rPr lang="en-GB" sz="1100" dirty="0" err="1">
                <a:solidFill>
                  <a:schemeClr val="bg1"/>
                </a:solidFill>
              </a:rPr>
              <a:t>doi</a:t>
            </a:r>
            <a:r>
              <a:rPr lang="en-GB" sz="1100" dirty="0">
                <a:solidFill>
                  <a:schemeClr val="bg1"/>
                </a:solidFill>
              </a:rPr>
              <a:t>: https://dl.acm.org/doi/abs/10.5555/2835525.2835528.</a:t>
            </a:r>
          </a:p>
          <a:p>
            <a:pPr>
              <a:spcBef>
                <a:spcPts val="300"/>
              </a:spcBef>
            </a:pPr>
            <a:r>
              <a:rPr lang="en-GB" sz="1100" dirty="0">
                <a:solidFill>
                  <a:schemeClr val="bg1"/>
                </a:solidFill>
              </a:rPr>
              <a:t>Gibson Kimutai and Förster, A. (2024) ‘A User-Centred Interaction Design: A Holistic Approach’., pp. 468–475. </a:t>
            </a:r>
            <a:r>
              <a:rPr lang="en-GB" sz="1100" dirty="0" err="1">
                <a:solidFill>
                  <a:schemeClr val="bg1"/>
                </a:solidFill>
              </a:rPr>
              <a:t>doi</a:t>
            </a:r>
            <a:r>
              <a:rPr lang="en-GB" sz="1100" dirty="0">
                <a:solidFill>
                  <a:schemeClr val="bg1"/>
                </a:solidFill>
              </a:rPr>
              <a:t>: https://doi.org/10.1109/ghtc62424.2024.10771531.</a:t>
            </a:r>
          </a:p>
          <a:p>
            <a:pPr>
              <a:spcBef>
                <a:spcPts val="300"/>
              </a:spcBef>
            </a:pPr>
            <a:r>
              <a:rPr lang="en-GB" sz="1100" dirty="0">
                <a:solidFill>
                  <a:schemeClr val="bg1"/>
                </a:solidFill>
              </a:rPr>
              <a:t>Sheppard, A.L. and </a:t>
            </a:r>
            <a:r>
              <a:rPr lang="en-GB" sz="1100" dirty="0" err="1">
                <a:solidFill>
                  <a:schemeClr val="bg1"/>
                </a:solidFill>
              </a:rPr>
              <a:t>Wolffsohn</a:t>
            </a:r>
            <a:r>
              <a:rPr lang="en-GB" sz="1100" dirty="0">
                <a:solidFill>
                  <a:schemeClr val="bg1"/>
                </a:solidFill>
              </a:rPr>
              <a:t>, J.S. (2018) ‘Digital eye strain: prevalence, measurement and amelioration’. </a:t>
            </a:r>
            <a:r>
              <a:rPr lang="en-GB" sz="1100" i="1" dirty="0">
                <a:solidFill>
                  <a:schemeClr val="bg1"/>
                </a:solidFill>
              </a:rPr>
              <a:t>BMJ Open Ophthalmology</a:t>
            </a:r>
            <a:r>
              <a:rPr lang="en-GB" sz="1100" dirty="0">
                <a:solidFill>
                  <a:schemeClr val="bg1"/>
                </a:solidFill>
              </a:rPr>
              <a:t> 3(1), p. e000146. Available at: https://bmjophth.bmj.com/content/3/1/e000146.</a:t>
            </a:r>
          </a:p>
          <a:p>
            <a:pPr>
              <a:spcBef>
                <a:spcPts val="300"/>
              </a:spcBef>
            </a:pPr>
            <a:r>
              <a:rPr lang="en-GB" sz="1100" dirty="0">
                <a:solidFill>
                  <a:schemeClr val="bg1"/>
                </a:solidFill>
              </a:rPr>
              <a:t>Wu, B., Yu, X. and Gu, X. (2020) ‘Effectiveness of immersive virtual reality using head‐mounted displays on learning performance: A meta‐analysis’. </a:t>
            </a:r>
            <a:r>
              <a:rPr lang="en-GB" sz="1100" i="1" dirty="0">
                <a:solidFill>
                  <a:schemeClr val="bg1"/>
                </a:solidFill>
              </a:rPr>
              <a:t>British Journal of Educational Technology</a:t>
            </a:r>
            <a:r>
              <a:rPr lang="en-GB" sz="1100" dirty="0">
                <a:solidFill>
                  <a:schemeClr val="bg1"/>
                </a:solidFill>
              </a:rPr>
              <a:t> 51(6), pp. 1991–2005. </a:t>
            </a:r>
            <a:r>
              <a:rPr lang="en-GB" sz="1100" dirty="0" err="1">
                <a:solidFill>
                  <a:schemeClr val="bg1"/>
                </a:solidFill>
              </a:rPr>
              <a:t>doi</a:t>
            </a:r>
            <a:r>
              <a:rPr lang="en-GB" sz="1100" dirty="0">
                <a:solidFill>
                  <a:schemeClr val="bg1"/>
                </a:solidFill>
              </a:rPr>
              <a:t>: https://doi.org/10.1111/bjet.13023.</a:t>
            </a:r>
          </a:p>
        </p:txBody>
      </p:sp>
      <p:pic>
        <p:nvPicPr>
          <p:cNvPr id="23" name="Picture 22">
            <a:extLst>
              <a:ext uri="{FF2B5EF4-FFF2-40B4-BE49-F238E27FC236}">
                <a16:creationId xmlns:a16="http://schemas.microsoft.com/office/drawing/2014/main" id="{94EA6115-39F6-5856-4FDD-1C708838006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473098" y="15636689"/>
            <a:ext cx="5095692" cy="2687263"/>
          </a:xfrm>
          <a:prstGeom prst="rect">
            <a:avLst/>
          </a:prstGeom>
        </p:spPr>
      </p:pic>
      <p:sp>
        <p:nvSpPr>
          <p:cNvPr id="24" name="TextBox 23">
            <a:extLst>
              <a:ext uri="{FF2B5EF4-FFF2-40B4-BE49-F238E27FC236}">
                <a16:creationId xmlns:a16="http://schemas.microsoft.com/office/drawing/2014/main" id="{19BA85FC-7C44-7077-70B7-B52F965A0AE3}"/>
              </a:ext>
            </a:extLst>
          </p:cNvPr>
          <p:cNvSpPr txBox="1"/>
          <p:nvPr/>
        </p:nvSpPr>
        <p:spPr>
          <a:xfrm>
            <a:off x="9831366" y="18474656"/>
            <a:ext cx="4379156" cy="369332"/>
          </a:xfrm>
          <a:prstGeom prst="rect">
            <a:avLst/>
          </a:prstGeom>
          <a:solidFill>
            <a:schemeClr val="bg1">
              <a:alpha val="64000"/>
            </a:schemeClr>
          </a:solidFill>
          <a:ln>
            <a:solidFill>
              <a:schemeClr val="bg1"/>
            </a:solidFill>
          </a:ln>
        </p:spPr>
        <p:txBody>
          <a:bodyPr wrap="square" rtlCol="0">
            <a:spAutoFit/>
          </a:bodyPr>
          <a:lstStyle/>
          <a:p>
            <a:pPr algn="ctr"/>
            <a:r>
              <a:rPr lang="en-GB" sz="1800" i="1" dirty="0"/>
              <a:t>Figure 4: Start menu environment</a:t>
            </a:r>
          </a:p>
        </p:txBody>
      </p:sp>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297</TotalTime>
  <Words>845</Words>
  <Application>Microsoft Office PowerPoint</Application>
  <PresentationFormat>Custom</PresentationFormat>
  <Paragraphs>62</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171</cp:revision>
  <dcterms:created xsi:type="dcterms:W3CDTF">2026-03-10T11:07:46Z</dcterms:created>
  <dcterms:modified xsi:type="dcterms:W3CDTF">2026-03-20T11:12:01Z</dcterms:modified>
</cp:coreProperties>
</file>