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9" d="100"/>
          <a:sy n="49" d="100"/>
        </p:scale>
        <p:origin x="1182"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159272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48000"/>
            <a:extLst>
              <a:ext uri="{28A0092B-C50C-407E-A947-70E740481C1C}">
                <a14:useLocalDpi xmlns:a14="http://schemas.microsoft.com/office/drawing/2010/main" val="0"/>
              </a:ext>
            </a:extLst>
          </a:blip>
          <a:srcRect l="-45" r="10580"/>
          <a:stretch>
            <a:fillRect/>
          </a:stretch>
        </p:blipFill>
        <p:spPr>
          <a:xfrm>
            <a:off x="10461" y="10826834"/>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b="1"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360607" y="1129650"/>
            <a:ext cx="10398135" cy="396546"/>
          </a:xfrm>
        </p:spPr>
        <p:txBody>
          <a:bodyPr/>
          <a:lstStyle/>
          <a:p>
            <a:r>
              <a:rPr lang="en-GB" b="1" dirty="0">
                <a:solidFill>
                  <a:schemeClr val="bg1"/>
                </a:solidFill>
              </a:rPr>
              <a:t>Supervisor – Alun King	30077548 –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556501"/>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8981820"/>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1742546"/>
            <a:ext cx="6850844" cy="7201780"/>
          </a:xfrm>
          <a:prstGeom prst="rect">
            <a:avLst/>
          </a:prstGeom>
          <a:noFill/>
          <a:ln w="38100">
            <a:solidFill>
              <a:schemeClr val="bg1"/>
            </a:solidFill>
          </a:ln>
        </p:spPr>
        <p:txBody>
          <a:bodyPr wrap="square" rtlCol="0">
            <a:spAutoFit/>
          </a:bodyPr>
          <a:lstStyle/>
          <a:p>
            <a:r>
              <a:rPr lang="en-GB" b="1" u="sng" dirty="0">
                <a:solidFill>
                  <a:schemeClr val="bg1"/>
                </a:solidFill>
              </a:rPr>
              <a:t>Problem</a:t>
            </a:r>
          </a:p>
          <a:p>
            <a:r>
              <a:rPr lang="en-GB" sz="1800" dirty="0">
                <a:solidFill>
                  <a:schemeClr val="bg1"/>
                </a:solidFill>
              </a:rPr>
              <a:t>Digital Eye Strain (DES) is caused by prolonged screen use with symptoms including eye fatigue, light sensitivity, focus strain and headaches. However, awareness of preventative habits remains low.</a:t>
            </a:r>
          </a:p>
          <a:p>
            <a:endParaRPr lang="en-GB" sz="1800" dirty="0">
              <a:solidFill>
                <a:schemeClr val="bg1"/>
              </a:solidFill>
            </a:endParaRPr>
          </a:p>
          <a:p>
            <a:r>
              <a:rPr lang="en-GB" b="1" u="sng" dirty="0">
                <a:solidFill>
                  <a:schemeClr val="bg1"/>
                </a:solidFill>
              </a:rPr>
              <a:t>Aim</a:t>
            </a:r>
          </a:p>
          <a:p>
            <a:r>
              <a:rPr lang="en-GB" sz="1800" dirty="0">
                <a:solidFill>
                  <a:schemeClr val="bg1"/>
                </a:solidFill>
              </a:rPr>
              <a:t>Raise awareness of DES by incorporating Virtual Reality (VR) to immerse and engage users with educational material relating to ocular health.</a:t>
            </a:r>
          </a:p>
          <a:p>
            <a:endParaRPr lang="en-GB" sz="2000" dirty="0">
              <a:solidFill>
                <a:schemeClr val="bg1"/>
              </a:solidFill>
            </a:endParaRPr>
          </a:p>
          <a:p>
            <a:r>
              <a:rPr lang="en-GB" b="1" u="sng" dirty="0">
                <a:solidFill>
                  <a:schemeClr val="bg1"/>
                </a:solidFill>
              </a:rPr>
              <a:t>Objectives</a:t>
            </a:r>
            <a:endParaRPr lang="en-GB" sz="1600" b="1" u="sng" dirty="0">
              <a:solidFill>
                <a:schemeClr val="bg1"/>
              </a:solidFill>
            </a:endParaRPr>
          </a:p>
          <a:p>
            <a:pPr marL="342900" lvl="0" indent="-342900">
              <a:buFont typeface="Wingdings" panose="05000000000000000000" pitchFamily="2" charset="2"/>
              <a:buChar char="v"/>
            </a:pPr>
            <a:r>
              <a:rPr lang="en-GB" sz="1800" dirty="0">
                <a:solidFill>
                  <a:schemeClr val="bg1"/>
                </a:solidFill>
              </a:rPr>
              <a:t>Research preventative methods for DES and identify educational content appropriate for the VR experience. </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Review existing medical VR applications to identify design and interaction strategies.</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Develop a VR experience that simulates DES symptoms and teaches preventative techniques.</a:t>
            </a:r>
          </a:p>
          <a:p>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1750984"/>
            <a:ext cx="6734112" cy="4698659"/>
          </a:xfrm>
          <a:prstGeom prst="rect">
            <a:avLst/>
          </a:prstGeom>
          <a:noFill/>
          <a:ln w="38100">
            <a:solidFill>
              <a:schemeClr val="bg1"/>
            </a:solidFill>
          </a:ln>
        </p:spPr>
        <p:txBody>
          <a:bodyPr wrap="square" rtlCol="0">
            <a:spAutoFit/>
          </a:bodyPr>
          <a:lstStyle/>
          <a:p>
            <a:r>
              <a:rPr lang="en-GB" b="1" u="sng" dirty="0">
                <a:solidFill>
                  <a:schemeClr val="bg1"/>
                </a:solidFill>
              </a:rPr>
              <a:t>Results</a:t>
            </a:r>
          </a:p>
          <a:p>
            <a:pPr marL="285750" indent="-285750">
              <a:buFont typeface="Wingdings" panose="05000000000000000000" pitchFamily="2" charset="2"/>
              <a:buChar char="v"/>
            </a:pPr>
            <a:r>
              <a:rPr lang="en-GB" sz="1800" dirty="0">
                <a:solidFill>
                  <a:schemeClr val="bg1"/>
                </a:solidFill>
              </a:rPr>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62513" y="6741027"/>
            <a:ext cx="6734112" cy="2205668"/>
          </a:xfrm>
          <a:prstGeom prst="rect">
            <a:avLst/>
          </a:prstGeom>
          <a:noFill/>
          <a:ln w="38100">
            <a:solidFill>
              <a:schemeClr val="bg1"/>
            </a:solidFill>
          </a:ln>
        </p:spPr>
        <p:txBody>
          <a:bodyPr wrap="square" rtlCol="0">
            <a:spAutoFit/>
          </a:bodyPr>
          <a:lstStyle/>
          <a:p>
            <a:r>
              <a:rPr lang="en-GB" b="1" u="sng" dirty="0">
                <a:solidFill>
                  <a:schemeClr val="bg1"/>
                </a:solidFill>
              </a:rPr>
              <a:t>Conclusion</a:t>
            </a:r>
          </a:p>
          <a:p>
            <a:r>
              <a:rPr lang="en-GB" sz="1800" dirty="0">
                <a:solidFill>
                  <a:schemeClr val="bg1"/>
                </a:solidFill>
              </a:rPr>
              <a:t>The experience successfully demonstrated the symptoms and preventative measures of DES. Iterative user testing improved usability and interaction features, which resulted in a more intuitive experience. This shows immersive VR can be used as an effective educational tool for raising awareness of medical health topics.</a:t>
            </a:r>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429048"/>
            <a:ext cx="6850846" cy="6329874"/>
          </a:xfrm>
          <a:prstGeom prst="rect">
            <a:avLst/>
          </a:prstGeom>
          <a:noFill/>
          <a:ln w="38100">
            <a:solidFill>
              <a:schemeClr val="bg1"/>
            </a:solidFill>
          </a:ln>
        </p:spPr>
        <p:txBody>
          <a:bodyPr wrap="square" rtlCol="0">
            <a:spAutoFit/>
          </a:bodyPr>
          <a:lstStyle/>
          <a:p>
            <a:r>
              <a:rPr lang="en-GB" b="1" u="sng" dirty="0">
                <a:solidFill>
                  <a:schemeClr val="bg1"/>
                </a:solidFill>
              </a:rPr>
              <a:t>Development Process</a:t>
            </a:r>
          </a:p>
          <a:p>
            <a:r>
              <a:rPr lang="en-GB" sz="1800" dirty="0">
                <a:solidFill>
                  <a:schemeClr val="bg1"/>
                </a:solidFill>
              </a:rPr>
              <a:t>The project was developed using Unreal Engine 5.3.2 with blueprinting and tested with a Meta Quest 3 VR headset.</a:t>
            </a:r>
          </a:p>
          <a:p>
            <a:endParaRPr lang="en-GB" sz="1800" dirty="0">
              <a:solidFill>
                <a:schemeClr val="bg1"/>
              </a:solidFill>
            </a:endParaRPr>
          </a:p>
          <a:p>
            <a:r>
              <a:rPr lang="en-GB" sz="1800" dirty="0">
                <a:solidFill>
                  <a:schemeClr val="bg1"/>
                </a:solidFill>
              </a:rPr>
              <a:t>The development process followed a User Centred Design (UCD) approach, using objective based progression to gamify the experience. The environment was designed to replicate real-world desk environments where DES commonly occurs. </a:t>
            </a:r>
          </a:p>
          <a:p>
            <a:endParaRPr lang="en-GB" sz="1800" dirty="0">
              <a:solidFill>
                <a:schemeClr val="bg1"/>
              </a:solidFill>
            </a:endParaRPr>
          </a:p>
          <a:p>
            <a:r>
              <a:rPr lang="en-GB" sz="1800" dirty="0">
                <a:solidFill>
                  <a:schemeClr val="bg1"/>
                </a:solidFill>
              </a:rPr>
              <a:t>Post-processing effects were used to simulate DES symptoms.</a:t>
            </a:r>
          </a:p>
          <a:p>
            <a:endParaRPr lang="en-GB" sz="1800" dirty="0">
              <a:solidFill>
                <a:schemeClr val="bg1"/>
              </a:solidFill>
            </a:endParaRPr>
          </a:p>
          <a:p>
            <a:r>
              <a:rPr lang="en-GB" sz="1800" b="1" dirty="0">
                <a:solidFill>
                  <a:schemeClr val="bg1"/>
                </a:solidFill>
              </a:rPr>
              <a:t>Vignette</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E</a:t>
            </a:r>
            <a:r>
              <a:rPr lang="en-GB" sz="1800" b="1" dirty="0">
                <a:solidFill>
                  <a:schemeClr val="bg1"/>
                </a:solidFill>
              </a:rPr>
              <a:t>ye Fatigue</a:t>
            </a:r>
          </a:p>
          <a:p>
            <a:r>
              <a:rPr lang="en-GB" sz="1800" b="1" dirty="0">
                <a:solidFill>
                  <a:schemeClr val="bg1"/>
                </a:solidFill>
              </a:rPr>
              <a:t>Bloom</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L</a:t>
            </a:r>
            <a:r>
              <a:rPr lang="en-GB" sz="1800" b="1" dirty="0">
                <a:solidFill>
                  <a:schemeClr val="bg1"/>
                </a:solidFill>
              </a:rPr>
              <a:t>ight Sensitivity </a:t>
            </a:r>
          </a:p>
          <a:p>
            <a:r>
              <a:rPr lang="en-GB" sz="1800" b="1" dirty="0">
                <a:solidFill>
                  <a:schemeClr val="bg1"/>
                </a:solidFill>
              </a:rPr>
              <a:t>Blur</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F</a:t>
            </a:r>
            <a:r>
              <a:rPr lang="en-GB" sz="1800" b="1" dirty="0">
                <a:solidFill>
                  <a:schemeClr val="bg1"/>
                </a:solidFill>
              </a:rPr>
              <a:t>ocus Strain</a:t>
            </a:r>
          </a:p>
          <a:p>
            <a:endParaRPr lang="en-GB" sz="1800" dirty="0">
              <a:solidFill>
                <a:schemeClr val="bg1"/>
              </a:solidFill>
            </a:endParaRPr>
          </a:p>
          <a:p>
            <a:r>
              <a:rPr lang="en-GB" sz="1800" dirty="0">
                <a:solidFill>
                  <a:schemeClr val="bg1"/>
                </a:solidFill>
              </a:rPr>
              <a:t>Workflow followed iterative development. A prototype was created and tested by users. Feedback collected was used to improve interactions and usability of the experience. This resulted in the final version implementing improved interaction and gaze detection. </a:t>
            </a:r>
          </a:p>
          <a:p>
            <a:endParaRPr lang="en-GB" sz="1800" dirty="0">
              <a:solidFill>
                <a:schemeClr val="bg1"/>
              </a:solidFill>
            </a:endParaRPr>
          </a:p>
          <a:p>
            <a:r>
              <a:rPr lang="en-GB" sz="1800" b="1" dirty="0">
                <a:solidFill>
                  <a:schemeClr val="bg1"/>
                </a:solidFill>
              </a:rPr>
              <a:t>Research </a:t>
            </a:r>
            <a:r>
              <a:rPr lang="en-GB" sz="1800" b="1" dirty="0">
                <a:solidFill>
                  <a:schemeClr val="bg1"/>
                </a:solidFill>
                <a:sym typeface="Wingdings" panose="05000000000000000000" pitchFamily="2" charset="2"/>
              </a:rPr>
              <a:t> Prototype  User Testing  Improvements  Final Version</a:t>
            </a:r>
            <a:endParaRPr lang="en-GB" sz="1800" b="1" dirty="0">
              <a:solidFill>
                <a:schemeClr val="bg1"/>
              </a:solidFill>
            </a:endParaRPr>
          </a:p>
        </p:txBody>
      </p:sp>
      <p:sp>
        <p:nvSpPr>
          <p:cNvPr id="12" name="TextBox 11">
            <a:extLst>
              <a:ext uri="{FF2B5EF4-FFF2-40B4-BE49-F238E27FC236}">
                <a16:creationId xmlns:a16="http://schemas.microsoft.com/office/drawing/2014/main" id="{8816A9FA-50CD-BDF4-C168-DAED2BFC33A4}"/>
              </a:ext>
            </a:extLst>
          </p:cNvPr>
          <p:cNvSpPr txBox="1"/>
          <p:nvPr/>
        </p:nvSpPr>
        <p:spPr>
          <a:xfrm>
            <a:off x="7834678" y="12429048"/>
            <a:ext cx="6761947" cy="3036665"/>
          </a:xfrm>
          <a:prstGeom prst="rect">
            <a:avLst/>
          </a:prstGeom>
          <a:noFill/>
          <a:ln w="38100">
            <a:solidFill>
              <a:schemeClr val="bg1"/>
            </a:solidFill>
          </a:ln>
        </p:spPr>
        <p:txBody>
          <a:bodyPr wrap="square" rtlCol="0">
            <a:spAutoFit/>
          </a:bodyPr>
          <a:lstStyle/>
          <a:p>
            <a:r>
              <a:rPr lang="en-GB" b="1" u="sng" dirty="0">
                <a:solidFill>
                  <a:schemeClr val="bg1"/>
                </a:solidFill>
              </a:rPr>
              <a:t>Future Work</a:t>
            </a:r>
            <a:endParaRPr lang="en-GB" sz="1100" b="1" u="sng" dirty="0">
              <a:solidFill>
                <a:schemeClr val="bg1"/>
              </a:solidFill>
            </a:endParaRPr>
          </a:p>
          <a:p>
            <a:pPr marL="285750" indent="-285750">
              <a:buFont typeface="Wingdings" panose="05000000000000000000" pitchFamily="2" charset="2"/>
              <a:buChar char="v"/>
            </a:pPr>
            <a:r>
              <a:rPr lang="en-GB" sz="1800" dirty="0">
                <a:solidFill>
                  <a:schemeClr val="bg1"/>
                </a:solidFill>
              </a:rPr>
              <a:t>Narration within the experience</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Accessibility settings</a:t>
            </a:r>
          </a:p>
          <a:p>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Changing gaze detection to use eye Tracking</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Additional environments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More intuitive light switch interaction </a:t>
            </a:r>
          </a:p>
        </p:txBody>
      </p:sp>
      <p:pic>
        <p:nvPicPr>
          <p:cNvPr id="18" name="Picture 17">
            <a:extLst>
              <a:ext uri="{FF2B5EF4-FFF2-40B4-BE49-F238E27FC236}">
                <a16:creationId xmlns:a16="http://schemas.microsoft.com/office/drawing/2014/main" id="{82278756-6B40-1ECB-3CF1-E0C4B49748B5}"/>
              </a:ext>
            </a:extLst>
          </p:cNvPr>
          <p:cNvPicPr>
            <a:picLocks noChangeAspect="1"/>
          </p:cNvPicPr>
          <p:nvPr/>
        </p:nvPicPr>
        <p:blipFill>
          <a:blip r:embed="rId4">
            <a:extLst>
              <a:ext uri="{28A0092B-C50C-407E-A947-70E740481C1C}">
                <a14:useLocalDpi xmlns:a14="http://schemas.microsoft.com/office/drawing/2010/main" val="0"/>
              </a:ext>
            </a:extLst>
          </a:blip>
          <a:srcRect l="1051" t="10655" b="4861"/>
          <a:stretch>
            <a:fillRect/>
          </a:stretch>
        </p:blipFill>
        <p:spPr>
          <a:xfrm>
            <a:off x="7840742" y="15727462"/>
            <a:ext cx="6734112" cy="3036665"/>
          </a:xfrm>
          <a:prstGeom prst="rect">
            <a:avLst/>
          </a:prstGeom>
        </p:spPr>
      </p:pic>
      <p:pic>
        <p:nvPicPr>
          <p:cNvPr id="19" name="Picture 18">
            <a:extLst>
              <a:ext uri="{FF2B5EF4-FFF2-40B4-BE49-F238E27FC236}">
                <a16:creationId xmlns:a16="http://schemas.microsoft.com/office/drawing/2014/main" id="{3BE05E08-87E9-6FDB-6F69-438CC6F37FA9}"/>
              </a:ext>
            </a:extLst>
          </p:cNvPr>
          <p:cNvPicPr>
            <a:picLocks noChangeAspect="1"/>
          </p:cNvPicPr>
          <p:nvPr/>
        </p:nvPicPr>
        <p:blipFill>
          <a:blip r:embed="rId5"/>
          <a:stretch>
            <a:fillRect/>
          </a:stretch>
        </p:blipFill>
        <p:spPr>
          <a:xfrm>
            <a:off x="934898" y="9133308"/>
            <a:ext cx="5992715" cy="3143418"/>
          </a:xfrm>
          <a:prstGeom prst="rect">
            <a:avLst/>
          </a:prstGeom>
        </p:spPr>
      </p:pic>
      <p:pic>
        <p:nvPicPr>
          <p:cNvPr id="21" name="Picture 20">
            <a:extLst>
              <a:ext uri="{FF2B5EF4-FFF2-40B4-BE49-F238E27FC236}">
                <a16:creationId xmlns:a16="http://schemas.microsoft.com/office/drawing/2014/main" id="{72B4A5C7-6B07-6C9A-E9F0-ED44E4EBDD46}"/>
              </a:ext>
            </a:extLst>
          </p:cNvPr>
          <p:cNvPicPr>
            <a:picLocks noChangeAspect="1"/>
          </p:cNvPicPr>
          <p:nvPr/>
        </p:nvPicPr>
        <p:blipFill>
          <a:blip r:embed="rId6"/>
          <a:stretch>
            <a:fillRect/>
          </a:stretch>
        </p:blipFill>
        <p:spPr>
          <a:xfrm>
            <a:off x="8191739" y="9086556"/>
            <a:ext cx="6048575" cy="3175656"/>
          </a:xfrm>
          <a:prstGeom prst="rect">
            <a:avLst/>
          </a:prstGeom>
        </p:spPr>
      </p:pic>
      <p:pic>
        <p:nvPicPr>
          <p:cNvPr id="20" name="Picture 19">
            <a:extLst>
              <a:ext uri="{FF2B5EF4-FFF2-40B4-BE49-F238E27FC236}">
                <a16:creationId xmlns:a16="http://schemas.microsoft.com/office/drawing/2014/main" id="{EEBCAD7F-C4FF-0A48-5B09-3C33B8451C3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282026" y="19104036"/>
            <a:ext cx="1763732" cy="2279589"/>
          </a:xfrm>
          <a:prstGeom prst="rect">
            <a:avLst/>
          </a:prstGeom>
        </p:spPr>
      </p:pic>
      <p:pic>
        <p:nvPicPr>
          <p:cNvPr id="25" name="Picture 24">
            <a:extLst>
              <a:ext uri="{FF2B5EF4-FFF2-40B4-BE49-F238E27FC236}">
                <a16:creationId xmlns:a16="http://schemas.microsoft.com/office/drawing/2014/main" id="{A26F2416-A6D5-ADE5-C49F-5F95B83AD49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3592" y="19104035"/>
            <a:ext cx="1763732" cy="2279589"/>
          </a:xfrm>
          <a:prstGeom prst="rect">
            <a:avLst/>
          </a:prstGeom>
        </p:spPr>
      </p:pic>
      <p:sp>
        <p:nvSpPr>
          <p:cNvPr id="4" name="TextBox 3">
            <a:extLst>
              <a:ext uri="{FF2B5EF4-FFF2-40B4-BE49-F238E27FC236}">
                <a16:creationId xmlns:a16="http://schemas.microsoft.com/office/drawing/2014/main" id="{AEDD1AA9-1A60-62D0-535E-C77AC880533E}"/>
              </a:ext>
            </a:extLst>
          </p:cNvPr>
          <p:cNvSpPr txBox="1"/>
          <p:nvPr/>
        </p:nvSpPr>
        <p:spPr>
          <a:xfrm>
            <a:off x="6131468" y="19571892"/>
            <a:ext cx="4963429" cy="1200329"/>
          </a:xfrm>
          <a:prstGeom prst="rect">
            <a:avLst/>
          </a:prstGeom>
          <a:noFill/>
        </p:spPr>
        <p:txBody>
          <a:bodyPr wrap="square" rtlCol="0">
            <a:spAutoFit/>
          </a:bodyPr>
          <a:lstStyle/>
          <a:p>
            <a:r>
              <a:rPr lang="en-GB" sz="2400" dirty="0">
                <a:solidFill>
                  <a:schemeClr val="bg1"/>
                </a:solidFill>
              </a:rPr>
              <a:t>BSc Computer Games Development</a:t>
            </a:r>
          </a:p>
          <a:p>
            <a:r>
              <a:rPr lang="en-GB" sz="2400" dirty="0">
                <a:solidFill>
                  <a:schemeClr val="bg1"/>
                </a:solidFill>
              </a:rPr>
              <a:t>University of South Wales</a:t>
            </a:r>
          </a:p>
          <a:p>
            <a:r>
              <a:rPr lang="en-GB" sz="2400" dirty="0">
                <a:solidFill>
                  <a:schemeClr val="bg1"/>
                </a:solidFill>
              </a:rPr>
              <a:t>2025-2026</a:t>
            </a:r>
          </a:p>
        </p:txBody>
      </p:sp>
      <p:pic>
        <p:nvPicPr>
          <p:cNvPr id="1026" name="Picture 2" descr="USW-logo - Cwm Taf Morgannwg Mind">
            <a:extLst>
              <a:ext uri="{FF2B5EF4-FFF2-40B4-BE49-F238E27FC236}">
                <a16:creationId xmlns:a16="http://schemas.microsoft.com/office/drawing/2014/main" id="{573723C4-631E-5621-68C3-C257A11B225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952716" y="19571892"/>
            <a:ext cx="1178752" cy="1178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163</TotalTime>
  <Words>438</Words>
  <Application>Microsoft Office PowerPoint</Application>
  <PresentationFormat>Custom</PresentationFormat>
  <Paragraphs>53</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124</cp:revision>
  <dcterms:created xsi:type="dcterms:W3CDTF">2026-03-10T11:07:46Z</dcterms:created>
  <dcterms:modified xsi:type="dcterms:W3CDTF">2026-03-14T22:01:12Z</dcterms:modified>
</cp:coreProperties>
</file>