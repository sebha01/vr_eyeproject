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8" d="100"/>
          <a:sy n="48" d="100"/>
        </p:scale>
        <p:origin x="3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18/03/2026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159272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0826834"/>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556501"/>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8981820"/>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1742546"/>
            <a:ext cx="6850844" cy="7201780"/>
          </a:xfrm>
          <a:prstGeom prst="rect">
            <a:avLst/>
          </a:prstGeom>
          <a:solidFill>
            <a:schemeClr val="bg1">
              <a:alpha val="64000"/>
            </a:schemeClr>
          </a:solidFill>
          <a:ln w="38100">
            <a:solidFill>
              <a:schemeClr val="bg1"/>
            </a:solidFill>
          </a:ln>
        </p:spPr>
        <p:txBody>
          <a:bodyPr wrap="square" rtlCol="0">
            <a:spAutoFit/>
          </a:bodyPr>
          <a:lstStyle/>
          <a:p>
            <a:r>
              <a:rPr lang="en-GB" b="1" u="sng" dirty="0"/>
              <a:t>Problem</a:t>
            </a:r>
          </a:p>
          <a:p>
            <a:r>
              <a:rPr lang="en-GB" sz="1800" dirty="0"/>
              <a:t>Digital Eye Strain (DES) is caused by prolonged screen use with symptoms including eye fatigue, light sensitivity, focus strain and headaches. However, awareness of preventative habits remains low.</a:t>
            </a:r>
          </a:p>
          <a:p>
            <a:endParaRPr lang="en-GB" sz="1800" dirty="0"/>
          </a:p>
          <a:p>
            <a:r>
              <a:rPr lang="en-GB" b="1" u="sng" dirty="0"/>
              <a:t>Aim</a:t>
            </a:r>
          </a:p>
          <a:p>
            <a:r>
              <a:rPr lang="en-GB" sz="1800" dirty="0"/>
              <a:t>Raise awareness of DES by incorporating Virtual Reality (VR) to immerse and engage users with educational material relating to ocular health.</a:t>
            </a:r>
          </a:p>
          <a:p>
            <a:endParaRPr lang="en-GB" sz="2000" dirty="0"/>
          </a:p>
          <a:p>
            <a:r>
              <a:rPr lang="en-GB" b="1" u="sng" dirty="0"/>
              <a:t>Objectives</a:t>
            </a:r>
            <a:endParaRPr lang="en-GB" sz="1600" b="1" u="sng" dirty="0"/>
          </a:p>
          <a:p>
            <a:pPr marL="342900" lvl="0" indent="-342900">
              <a:buFont typeface="Wingdings" panose="05000000000000000000" pitchFamily="2" charset="2"/>
              <a:buChar char="v"/>
            </a:pPr>
            <a:r>
              <a:rPr lang="en-GB" sz="1800" dirty="0"/>
              <a:t>Research preventative methods for DES and identify educational content appropriate for the VR experience. </a:t>
            </a:r>
          </a:p>
          <a:p>
            <a:pPr lvl="0"/>
            <a:endParaRPr lang="en-GB" sz="1800" dirty="0"/>
          </a:p>
          <a:p>
            <a:pPr marL="342900" lvl="0" indent="-342900">
              <a:buFont typeface="Wingdings" panose="05000000000000000000" pitchFamily="2" charset="2"/>
              <a:buChar char="v"/>
            </a:pPr>
            <a:r>
              <a:rPr lang="en-GB" sz="1800" dirty="0"/>
              <a:t>Review existing medical VR applications to identify design and interaction strategies.</a:t>
            </a:r>
          </a:p>
          <a:p>
            <a:pPr lvl="0"/>
            <a:endParaRPr lang="en-GB" sz="1800" dirty="0"/>
          </a:p>
          <a:p>
            <a:pPr marL="342900" lvl="0" indent="-342900">
              <a:buFont typeface="Wingdings" panose="05000000000000000000" pitchFamily="2" charset="2"/>
              <a:buChar char="v"/>
            </a:pPr>
            <a:r>
              <a:rPr lang="en-GB" sz="1800" dirty="0"/>
              <a:t>Develop a VR experience that simulates DES symptoms and teaches preventative techniques.</a:t>
            </a:r>
          </a:p>
          <a:p>
            <a:endParaRPr lang="en-GB" sz="1800" dirty="0"/>
          </a:p>
          <a:p>
            <a:pPr marL="342900" lvl="0" indent="-342900">
              <a:buFont typeface="Wingdings" panose="05000000000000000000" pitchFamily="2" charset="2"/>
              <a:buChar char="v"/>
            </a:pPr>
            <a:r>
              <a:rPr lang="en-GB" sz="1800" dirty="0"/>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1750984"/>
            <a:ext cx="6734112" cy="4698659"/>
          </a:xfrm>
          <a:prstGeom prst="rect">
            <a:avLst/>
          </a:prstGeom>
          <a:solidFill>
            <a:schemeClr val="bg1">
              <a:alpha val="64000"/>
            </a:schemeClr>
          </a:solidFill>
          <a:ln w="38100">
            <a:solidFill>
              <a:schemeClr val="bg1"/>
            </a:solidFill>
          </a:ln>
        </p:spPr>
        <p:txBody>
          <a:bodyPr wrap="square" rtlCol="0">
            <a:spAutoFit/>
          </a:bodyPr>
          <a:lstStyle/>
          <a:p>
            <a:r>
              <a:rPr lang="en-GB" b="1" u="sng" dirty="0"/>
              <a:t>Results</a:t>
            </a:r>
          </a:p>
          <a:p>
            <a:pPr marL="285750" indent="-285750">
              <a:buFont typeface="Wingdings" panose="05000000000000000000" pitchFamily="2" charset="2"/>
              <a:buChar char="v"/>
            </a:pPr>
            <a:r>
              <a:rPr lang="en-GB" sz="1800" dirty="0"/>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6741027"/>
            <a:ext cx="6734112" cy="2205668"/>
          </a:xfrm>
          <a:prstGeom prst="rect">
            <a:avLst/>
          </a:prstGeom>
          <a:solidFill>
            <a:schemeClr val="bg1">
              <a:alpha val="64000"/>
            </a:schemeClr>
          </a:solidFill>
          <a:ln w="38100">
            <a:solidFill>
              <a:schemeClr val="bg1"/>
            </a:solidFill>
          </a:ln>
        </p:spPr>
        <p:txBody>
          <a:bodyPr wrap="square" rtlCol="0">
            <a:spAutoFit/>
          </a:bodyPr>
          <a:lstStyle/>
          <a:p>
            <a:r>
              <a:rPr lang="en-GB" b="1" u="sng" dirty="0"/>
              <a:t>Conclusion</a:t>
            </a:r>
          </a:p>
          <a:p>
            <a:r>
              <a:rPr lang="en-GB" sz="1800" dirty="0"/>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429048"/>
            <a:ext cx="8578532" cy="5806654"/>
          </a:xfrm>
          <a:prstGeom prst="rect">
            <a:avLst/>
          </a:prstGeom>
          <a:solidFill>
            <a:schemeClr val="bg1">
              <a:alpha val="64000"/>
            </a:schemeClr>
          </a:solidFill>
          <a:ln w="38100">
            <a:solidFill>
              <a:schemeClr val="bg1"/>
            </a:solidFill>
          </a:ln>
        </p:spPr>
        <p:txBody>
          <a:bodyPr wrap="square" rtlCol="0">
            <a:spAutoFit/>
          </a:bodyPr>
          <a:lstStyle/>
          <a:p>
            <a:r>
              <a:rPr lang="en-GB" b="1" u="sng" dirty="0"/>
              <a:t>Development Process</a:t>
            </a:r>
          </a:p>
          <a:p>
            <a:r>
              <a:rPr lang="en-GB" sz="1800" dirty="0"/>
              <a:t>The project was developed using Unreal Engine 5.3.2 with blueprinting and tested with a Meta Quest 3 VR headset.</a:t>
            </a:r>
          </a:p>
          <a:p>
            <a:endParaRPr lang="en-GB" sz="1800" dirty="0"/>
          </a:p>
          <a:p>
            <a:r>
              <a:rPr lang="en-GB" sz="1800" dirty="0"/>
              <a:t>The development process followed a User Centred Design (UCD) approach, using objective based progression to gamify the experience. The environment was designed to replicate real-world desk environments where DES commonly occurs. </a:t>
            </a:r>
          </a:p>
          <a:p>
            <a:endParaRPr lang="en-GB" sz="1800" dirty="0"/>
          </a:p>
          <a:p>
            <a:r>
              <a:rPr lang="en-GB" sz="1800" dirty="0"/>
              <a:t>Post-processing effects were used to simulate DES symptoms.</a:t>
            </a:r>
          </a:p>
          <a:p>
            <a:endParaRPr lang="en-GB" sz="1800" dirty="0"/>
          </a:p>
          <a:p>
            <a:r>
              <a:rPr lang="en-GB" sz="1800" b="1" dirty="0"/>
              <a:t>Vignette</a:t>
            </a:r>
            <a:r>
              <a:rPr lang="en-GB" sz="1800" dirty="0"/>
              <a:t> </a:t>
            </a:r>
            <a:r>
              <a:rPr lang="en-GB" sz="1800" dirty="0">
                <a:sym typeface="Wingdings" panose="05000000000000000000" pitchFamily="2" charset="2"/>
              </a:rPr>
              <a:t> </a:t>
            </a:r>
            <a:r>
              <a:rPr lang="en-GB" sz="1800" b="1" dirty="0">
                <a:sym typeface="Wingdings" panose="05000000000000000000" pitchFamily="2" charset="2"/>
              </a:rPr>
              <a:t>E</a:t>
            </a:r>
            <a:r>
              <a:rPr lang="en-GB" sz="1800" b="1" dirty="0"/>
              <a:t>ye Fatigue</a:t>
            </a:r>
          </a:p>
          <a:p>
            <a:r>
              <a:rPr lang="en-GB" sz="1800" b="1" dirty="0"/>
              <a:t>Bloom</a:t>
            </a:r>
            <a:r>
              <a:rPr lang="en-GB" sz="1800" dirty="0"/>
              <a:t> </a:t>
            </a:r>
            <a:r>
              <a:rPr lang="en-GB" sz="1800" dirty="0">
                <a:sym typeface="Wingdings" panose="05000000000000000000" pitchFamily="2" charset="2"/>
              </a:rPr>
              <a:t> </a:t>
            </a:r>
            <a:r>
              <a:rPr lang="en-GB" sz="1800" b="1" dirty="0">
                <a:sym typeface="Wingdings" panose="05000000000000000000" pitchFamily="2" charset="2"/>
              </a:rPr>
              <a:t>L</a:t>
            </a:r>
            <a:r>
              <a:rPr lang="en-GB" sz="1800" b="1" dirty="0"/>
              <a:t>ight Sensitivity </a:t>
            </a:r>
          </a:p>
          <a:p>
            <a:r>
              <a:rPr lang="en-GB" sz="1800" b="1" dirty="0"/>
              <a:t>Blur</a:t>
            </a:r>
            <a:r>
              <a:rPr lang="en-GB" sz="1800" dirty="0"/>
              <a:t> </a:t>
            </a:r>
            <a:r>
              <a:rPr lang="en-GB" sz="1800" dirty="0">
                <a:sym typeface="Wingdings" panose="05000000000000000000" pitchFamily="2" charset="2"/>
              </a:rPr>
              <a:t> </a:t>
            </a:r>
            <a:r>
              <a:rPr lang="en-GB" sz="1800" b="1" dirty="0">
                <a:sym typeface="Wingdings" panose="05000000000000000000" pitchFamily="2" charset="2"/>
              </a:rPr>
              <a:t>F</a:t>
            </a:r>
            <a:r>
              <a:rPr lang="en-GB" sz="1800" b="1" dirty="0"/>
              <a:t>ocus Strain</a:t>
            </a:r>
          </a:p>
          <a:p>
            <a:endParaRPr lang="en-GB" sz="1800" dirty="0"/>
          </a:p>
          <a:p>
            <a:r>
              <a:rPr lang="en-GB" sz="1800" dirty="0"/>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p>
          <a:p>
            <a:r>
              <a:rPr lang="en-GB" sz="1800" b="1" dirty="0"/>
              <a:t>Research </a:t>
            </a:r>
            <a:r>
              <a:rPr lang="en-GB" sz="1800" b="1" dirty="0">
                <a:sym typeface="Wingdings" panose="05000000000000000000" pitchFamily="2" charset="2"/>
              </a:rPr>
              <a:t> Prototype  User Testing  Improvements  Final Version</a:t>
            </a:r>
            <a:endParaRPr lang="en-GB" sz="1800" b="1" dirty="0"/>
          </a:p>
        </p:txBody>
      </p:sp>
      <p:sp>
        <p:nvSpPr>
          <p:cNvPr id="12" name="TextBox 11">
            <a:extLst>
              <a:ext uri="{FF2B5EF4-FFF2-40B4-BE49-F238E27FC236}">
                <a16:creationId xmlns:a16="http://schemas.microsoft.com/office/drawing/2014/main" id="{8816A9FA-50CD-BDF4-C168-DAED2BFC33A4}"/>
              </a:ext>
            </a:extLst>
          </p:cNvPr>
          <p:cNvSpPr txBox="1"/>
          <p:nvPr/>
        </p:nvSpPr>
        <p:spPr>
          <a:xfrm>
            <a:off x="9473098" y="12428349"/>
            <a:ext cx="5095692" cy="3036665"/>
          </a:xfrm>
          <a:prstGeom prst="rect">
            <a:avLst/>
          </a:prstGeom>
          <a:solidFill>
            <a:schemeClr val="bg1">
              <a:alpha val="64000"/>
            </a:schemeClr>
          </a:solidFill>
          <a:ln w="38100">
            <a:solidFill>
              <a:schemeClr val="bg1"/>
            </a:solidFill>
          </a:ln>
        </p:spPr>
        <p:txBody>
          <a:bodyPr wrap="square" rtlCol="0">
            <a:spAutoFit/>
          </a:bodyPr>
          <a:lstStyle/>
          <a:p>
            <a:r>
              <a:rPr lang="en-GB" b="1" u="sng" dirty="0"/>
              <a:t>Future Work</a:t>
            </a:r>
            <a:endParaRPr lang="en-GB" sz="1100" b="1" u="sng" dirty="0"/>
          </a:p>
          <a:p>
            <a:pPr marL="285750" indent="-285750">
              <a:buFont typeface="Wingdings" panose="05000000000000000000" pitchFamily="2" charset="2"/>
              <a:buChar char="v"/>
            </a:pPr>
            <a:r>
              <a:rPr lang="en-GB" sz="1800" dirty="0"/>
              <a:t>Narration within the experience</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Accessibility settings</a:t>
            </a:r>
          </a:p>
          <a:p>
            <a:endParaRPr lang="en-GB" sz="1800" dirty="0"/>
          </a:p>
          <a:p>
            <a:pPr marL="285750" indent="-285750">
              <a:buFont typeface="Wingdings" panose="05000000000000000000" pitchFamily="2" charset="2"/>
              <a:buChar char="v"/>
            </a:pPr>
            <a:r>
              <a:rPr lang="en-GB" sz="1800" dirty="0"/>
              <a:t>Changing gaze detection to use eye Tracking</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Additional environments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9780" t="10655" b="4861"/>
          <a:stretch>
            <a:fillRect/>
          </a:stretch>
        </p:blipFill>
        <p:spPr>
          <a:xfrm>
            <a:off x="9923438" y="9163304"/>
            <a:ext cx="4687504" cy="2318280"/>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533071" y="9163304"/>
            <a:ext cx="4419645" cy="2318280"/>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5230298" y="9163304"/>
            <a:ext cx="4415557" cy="2318280"/>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9033" y="19060055"/>
            <a:ext cx="1763732" cy="2279589"/>
          </a:xfrm>
          <a:prstGeom prst="rect">
            <a:avLst/>
          </a:prstGeom>
        </p:spPr>
      </p:pic>
      <p:sp>
        <p:nvSpPr>
          <p:cNvPr id="4" name="TextBox 3">
            <a:extLst>
              <a:ext uri="{FF2B5EF4-FFF2-40B4-BE49-F238E27FC236}">
                <a16:creationId xmlns:a16="http://schemas.microsoft.com/office/drawing/2014/main" id="{AEDD1AA9-1A60-62D0-535E-C77AC880533E}"/>
              </a:ext>
            </a:extLst>
          </p:cNvPr>
          <p:cNvSpPr txBox="1"/>
          <p:nvPr/>
        </p:nvSpPr>
        <p:spPr>
          <a:xfrm>
            <a:off x="16905918" y="19571892"/>
            <a:ext cx="4963429" cy="1200329"/>
          </a:xfrm>
          <a:prstGeom prst="rect">
            <a:avLst/>
          </a:prstGeom>
          <a:noFill/>
        </p:spPr>
        <p:txBody>
          <a:bodyPr wrap="square" rtlCol="0">
            <a:spAutoFit/>
          </a:bodyPr>
          <a:lstStyle/>
          <a:p>
            <a:r>
              <a:rPr lang="en-GB" sz="2400" dirty="0">
                <a:solidFill>
                  <a:schemeClr val="bg1"/>
                </a:solidFill>
              </a:rPr>
              <a:t>BSc Computer Games Development</a:t>
            </a:r>
          </a:p>
          <a:p>
            <a:r>
              <a:rPr lang="en-GB" sz="2400" dirty="0">
                <a:solidFill>
                  <a:schemeClr val="bg1"/>
                </a:solidFill>
              </a:rPr>
              <a:t>University of South Wales</a:t>
            </a:r>
          </a:p>
          <a:p>
            <a:r>
              <a:rPr lang="en-GB" sz="2400" dirty="0">
                <a:solidFill>
                  <a:schemeClr val="bg1"/>
                </a:solidFill>
              </a:rPr>
              <a:t>2025-2026</a:t>
            </a:r>
          </a:p>
        </p:txBody>
      </p:sp>
      <p:pic>
        <p:nvPicPr>
          <p:cNvPr id="1026" name="Picture 2" descr="USW-logo - Cwm Taf Morgannwg Mind">
            <a:extLst>
              <a:ext uri="{FF2B5EF4-FFF2-40B4-BE49-F238E27FC236}">
                <a16:creationId xmlns:a16="http://schemas.microsoft.com/office/drawing/2014/main" id="{573723C4-631E-5621-68C3-C257A11B225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5727166" y="19571892"/>
            <a:ext cx="1178752" cy="117875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1549785-F4DE-8A8C-8E6A-EBE7D7312363}"/>
              </a:ext>
            </a:extLst>
          </p:cNvPr>
          <p:cNvSpPr txBox="1"/>
          <p:nvPr/>
        </p:nvSpPr>
        <p:spPr>
          <a:xfrm>
            <a:off x="547786" y="11589926"/>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dirty="0"/>
              <a:t>Focus strain symptom simulation with gaze interaction as active objective</a:t>
            </a:r>
          </a:p>
        </p:txBody>
      </p:sp>
      <p:sp>
        <p:nvSpPr>
          <p:cNvPr id="14" name="TextBox 13">
            <a:extLst>
              <a:ext uri="{FF2B5EF4-FFF2-40B4-BE49-F238E27FC236}">
                <a16:creationId xmlns:a16="http://schemas.microsoft.com/office/drawing/2014/main" id="{C4F74F37-9630-3FAF-C3F9-419609D97453}"/>
              </a:ext>
            </a:extLst>
          </p:cNvPr>
          <p:cNvSpPr txBox="1"/>
          <p:nvPr/>
        </p:nvSpPr>
        <p:spPr>
          <a:xfrm>
            <a:off x="5366640" y="11728424"/>
            <a:ext cx="4379156" cy="369332"/>
          </a:xfrm>
          <a:prstGeom prst="rect">
            <a:avLst/>
          </a:prstGeom>
          <a:solidFill>
            <a:schemeClr val="bg1">
              <a:alpha val="64000"/>
            </a:schemeClr>
          </a:solidFill>
          <a:ln>
            <a:solidFill>
              <a:schemeClr val="bg1"/>
            </a:solidFill>
          </a:ln>
        </p:spPr>
        <p:txBody>
          <a:bodyPr wrap="square" rtlCol="0">
            <a:spAutoFit/>
          </a:bodyPr>
          <a:lstStyle/>
          <a:p>
            <a:pPr algn="ctr"/>
            <a:r>
              <a:rPr lang="en-GB" sz="1800" dirty="0"/>
              <a:t>Desk setup with light switch interaction</a:t>
            </a:r>
          </a:p>
        </p:txBody>
      </p:sp>
      <p:sp>
        <p:nvSpPr>
          <p:cNvPr id="15" name="TextBox 14">
            <a:extLst>
              <a:ext uri="{FF2B5EF4-FFF2-40B4-BE49-F238E27FC236}">
                <a16:creationId xmlns:a16="http://schemas.microsoft.com/office/drawing/2014/main" id="{1D03B8AD-C3FF-4F18-8DF3-8C0F354B72F9}"/>
              </a:ext>
            </a:extLst>
          </p:cNvPr>
          <p:cNvSpPr txBox="1"/>
          <p:nvPr/>
        </p:nvSpPr>
        <p:spPr>
          <a:xfrm>
            <a:off x="10077612" y="11589925"/>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dirty="0"/>
              <a:t>Eye fatigue simulation with green sphere target for objective progression</a:t>
            </a:r>
          </a:p>
        </p:txBody>
      </p:sp>
      <p:sp>
        <p:nvSpPr>
          <p:cNvPr id="17" name="TextBox 16">
            <a:extLst>
              <a:ext uri="{FF2B5EF4-FFF2-40B4-BE49-F238E27FC236}">
                <a16:creationId xmlns:a16="http://schemas.microsoft.com/office/drawing/2014/main" id="{28E7018E-612A-6DD1-411D-49A4C41A23E9}"/>
              </a:ext>
            </a:extLst>
          </p:cNvPr>
          <p:cNvSpPr txBox="1"/>
          <p:nvPr/>
        </p:nvSpPr>
        <p:spPr>
          <a:xfrm>
            <a:off x="2359941" y="19261583"/>
            <a:ext cx="12251001" cy="1897892"/>
          </a:xfrm>
          <a:prstGeom prst="rect">
            <a:avLst/>
          </a:prstGeom>
          <a:noFill/>
          <a:ln w="38100">
            <a:solidFill>
              <a:schemeClr val="bg1"/>
            </a:solidFill>
          </a:ln>
        </p:spPr>
        <p:txBody>
          <a:bodyPr wrap="square" rtlCol="0">
            <a:spAutoFit/>
          </a:bodyPr>
          <a:lstStyle/>
          <a:p>
            <a:r>
              <a:rPr lang="en-GB" b="1" u="sng" dirty="0">
                <a:solidFill>
                  <a:schemeClr val="bg1"/>
                </a:solidFill>
              </a:rPr>
              <a:t>References</a:t>
            </a: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pPr marL="285750" indent="-285750">
              <a:buFont typeface="Wingdings" panose="05000000000000000000" pitchFamily="2" charset="2"/>
              <a:buChar char="v"/>
            </a:pPr>
            <a:endParaRPr lang="en-GB" sz="1100" b="1" u="sng" dirty="0">
              <a:solidFill>
                <a:schemeClr val="bg1"/>
              </a:solidFill>
            </a:endParaRPr>
          </a:p>
          <a:p>
            <a:endParaRPr lang="en-GB" sz="1100" b="1" u="sng" dirty="0"/>
          </a:p>
        </p:txBody>
      </p:sp>
      <p:pic>
        <p:nvPicPr>
          <p:cNvPr id="23" name="Picture 22">
            <a:extLst>
              <a:ext uri="{FF2B5EF4-FFF2-40B4-BE49-F238E27FC236}">
                <a16:creationId xmlns:a16="http://schemas.microsoft.com/office/drawing/2014/main" id="{94EA6115-39F6-5856-4FDD-1C708838006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473098" y="15593985"/>
            <a:ext cx="5095692" cy="2687263"/>
          </a:xfrm>
          <a:prstGeom prst="rect">
            <a:avLst/>
          </a:prstGeom>
        </p:spPr>
      </p:pic>
      <p:sp>
        <p:nvSpPr>
          <p:cNvPr id="24" name="TextBox 23">
            <a:extLst>
              <a:ext uri="{FF2B5EF4-FFF2-40B4-BE49-F238E27FC236}">
                <a16:creationId xmlns:a16="http://schemas.microsoft.com/office/drawing/2014/main" id="{19BA85FC-7C44-7077-70B7-B52F965A0AE3}"/>
              </a:ext>
            </a:extLst>
          </p:cNvPr>
          <p:cNvSpPr txBox="1"/>
          <p:nvPr/>
        </p:nvSpPr>
        <p:spPr>
          <a:xfrm>
            <a:off x="9831366" y="18450554"/>
            <a:ext cx="4379156" cy="369332"/>
          </a:xfrm>
          <a:prstGeom prst="rect">
            <a:avLst/>
          </a:prstGeom>
          <a:solidFill>
            <a:schemeClr val="bg1">
              <a:alpha val="64000"/>
            </a:schemeClr>
          </a:solidFill>
          <a:ln>
            <a:solidFill>
              <a:schemeClr val="bg1"/>
            </a:solidFill>
          </a:ln>
        </p:spPr>
        <p:txBody>
          <a:bodyPr wrap="square" rtlCol="0">
            <a:spAutoFit/>
          </a:bodyPr>
          <a:lstStyle/>
          <a:p>
            <a:pPr algn="ctr"/>
            <a:r>
              <a:rPr lang="en-GB" sz="1800" dirty="0"/>
              <a:t>Start menu environment</a:t>
            </a: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238</TotalTime>
  <Words>468</Words>
  <Application>Microsoft Office PowerPoint</Application>
  <PresentationFormat>Custom</PresentationFormat>
  <Paragraphs>64</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138</cp:revision>
  <dcterms:created xsi:type="dcterms:W3CDTF">2026-03-10T11:07:46Z</dcterms:created>
  <dcterms:modified xsi:type="dcterms:W3CDTF">2026-03-18T14:13:48Z</dcterms:modified>
</cp:coreProperties>
</file>